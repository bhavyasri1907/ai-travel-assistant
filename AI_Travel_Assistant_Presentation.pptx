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2"/>
    <p:sldId id="264" r:id="rId13"/>
    <p:sldId id="265" r:id="rId14"/>
    <p:sldId id="266" r:id="rId15"/>
  </p:sldIdLst>
  <p:sldSz cx="12193588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666880" y="573120"/>
            <a:ext cx="5027760" cy="282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1f497d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1f497d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-36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7"/>
          </p:nvPr>
        </p:nvSpPr>
        <p:spPr>
          <a:xfrm>
            <a:off x="586548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8"/>
          </p:nvPr>
        </p:nvSpPr>
        <p:spPr>
          <a:xfrm>
            <a:off x="-36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586548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9F17B5-B240-4B8F-A25E-46C9BE6D800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115A5EAA-EEB3-4FC7-BA74-70849B61122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7EE9005B-18D4-4721-B591-4ABB8C83E9A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BC803E11-91D5-43BA-9494-7CF4D112E10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4971F38-B2F1-44D0-9583-33198327D79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043C4222-4822-4647-9A87-BFD52D18825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B58DA98E-AC61-4E13-B3F9-814EEA180FA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2" descr=""/>
          <p:cNvPicPr/>
          <p:nvPr/>
        </p:nvPicPr>
        <p:blipFill>
          <a:blip r:embed="rId2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7D68D01-7511-4ACB-AD91-764FFDD67561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1f497d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1f497d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FFDBF3-0ED5-4431-B768-97D350D7C0B7}" type="datetime">
              <a: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26/08/26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DWDM                                                        T. Sudha Rani Associate Professor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D6F288-D6E4-4CCB-B4FA-1C20F2575C04}" type="slidenum">
              <a: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"/>
          <p:cNvPicPr/>
          <p:nvPr/>
        </p:nvPicPr>
        <p:blipFill>
          <a:blip r:embed="rId2"/>
          <a:stretch/>
        </p:blipFill>
        <p:spPr>
          <a:xfrm>
            <a:off x="2567160" y="592200"/>
            <a:ext cx="7610400" cy="10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E5059820-A2D3-4615-9BE7-0C0DFF1307E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1f497d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1f497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9D6DDC-9845-4F46-8A34-E03C943E641C}" type="datetime">
              <a: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26/08/26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DWDM                                                        T. Sudha Rani Associate Professor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3D2361-9177-4E0D-AD34-0E370F2CF249}" type="slidenum">
              <a:rPr b="0" lang="en-IN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1874519"/>
            <a:ext cx="101498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F4EA6"/>
                </a:solidFill>
                <a:latin typeface="Aptos"/>
              </a:rPr>
              <a:t>AI Travel Assistant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578608"/>
            <a:ext cx="97840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8282"/>
                </a:solidFill>
                <a:latin typeface="Aptos"/>
              </a:rPr>
              <a:t>Using 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154680"/>
            <a:ext cx="96012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Personalized travel planning • Destination recommendations • Day-wise budget itineraries • AI Voice narration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3886200"/>
            <a:ext cx="43891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160520" y="4069080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A6"/>
                </a:solidFill>
                <a:latin typeface="Aptos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4407408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N.Bhavya Sri (24B11CS320)   •   T.Lavanya (24B11CS207)   •   S.Srihasini (25B21CS029)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5166360"/>
            <a:ext cx="47091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ptos"/>
              </a:rPr>
              <a:t>Department of Computer Science &amp; Engineering
Aditya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572768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554480" y="1609344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9344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Introduction &amp;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148840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554480" y="2185416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85416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Proposed Solution &amp;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724912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554480" y="2761488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NLP, Intent &amp; Entity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300984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554480" y="3337560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337560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Travel Recommendation &amp; Itinerary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877056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554480" y="3913632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13632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Context Management &amp; Knowledge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453128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554480" y="4489704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489704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Chatbot Execution &amp; Data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5029200"/>
            <a:ext cx="9555480" cy="4206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0160"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554480" y="5065776"/>
            <a:ext cx="50292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65776"/>
            <a:ext cx="81381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B43"/>
                </a:solidFill>
                <a:latin typeface="Aptos"/>
              </a:rPr>
              <a:t>Expected Outcome &amp; Future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INTRODUCTION &amp; PROBLEM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486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" cy="3429000"/>
          </a:xfrm>
          <a:prstGeom prst="rect">
            <a:avLst/>
          </a:prstGeom>
          <a:solidFill>
            <a:srgbClr val="1F4EA6"/>
          </a:solidFill>
          <a:ln w="10160">
            <a:solidFill>
              <a:srgbClr val="1F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2688" y="1700784"/>
            <a:ext cx="51206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EA6"/>
                </a:solidFill>
                <a:latin typeface="Aptos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84831"/>
            <a:ext cx="5120640" cy="2807208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100"/>
            </a:pPr>
            <a:r>
              <a:t>AI-powered conversational travel companion website built with NLP.</a:t>
            </a:r>
          </a:p>
          <a:p>
            <a:pPr>
              <a:spcAft>
                <a:spcPts val="400"/>
              </a:spcAft>
              <a:defRPr sz="1100"/>
            </a:pPr>
            <a:r>
              <a:t>Understands normal human language (e.g. 'hlo', 'i need more hill stations').</a:t>
            </a:r>
          </a:p>
          <a:p>
            <a:pPr>
              <a:spcAft>
                <a:spcPts val="400"/>
              </a:spcAft>
              <a:defRPr sz="1100"/>
            </a:pPr>
            <a:r>
              <a:t>Combines destination, budget, duration, and interests for custom advice.</a:t>
            </a:r>
          </a:p>
          <a:p>
            <a:pPr>
              <a:spcAft>
                <a:spcPts val="400"/>
              </a:spcAft>
              <a:defRPr sz="1100"/>
            </a:pPr>
            <a:r>
              <a:t>Generates practical day-wise itineraries with real photos and iconic local food spots.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554480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6382512" y="1554480"/>
            <a:ext cx="64008" cy="3429000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583680" y="1700784"/>
            <a:ext cx="4709159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7E26"/>
                </a:solidFill>
                <a:latin typeface="Aptos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84831"/>
            <a:ext cx="4709159" cy="2807208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100"/>
            </a:pPr>
            <a:r>
              <a:t>Travel information is scattered across dozens of blogs and booking sites.</a:t>
            </a:r>
          </a:p>
          <a:p>
            <a:pPr>
              <a:spcAft>
                <a:spcPts val="400"/>
              </a:spcAft>
              <a:defRPr sz="1100"/>
            </a:pPr>
            <a:r>
              <a:t>Manual comparison and planning takes hours of tedious searching.</a:t>
            </a:r>
          </a:p>
          <a:p>
            <a:pPr>
              <a:spcAft>
                <a:spcPts val="400"/>
              </a:spcAft>
              <a:defRPr sz="1100"/>
            </a:pPr>
            <a:r>
              <a:t>Rigid traditional chatbots only understand exact buttons and give canned answers.</a:t>
            </a:r>
          </a:p>
          <a:p>
            <a:pPr>
              <a:spcAft>
                <a:spcPts val="400"/>
              </a:spcAft>
              <a:defRPr sz="1100"/>
            </a:pPr>
            <a:r>
              <a:t>Travelers need a fast, conversational ChatGPT-like companion that speaks answers aloud.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5166360"/>
            <a:ext cx="9966960" cy="56692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417320" y="5294376"/>
            <a:ext cx="9601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8282"/>
                </a:solidFill>
                <a:latin typeface="Aptos"/>
              </a:rPr>
              <a:t>TRADITIONAL:  Search → Compare → Plan     |     AI ASSISTANT:  Ask → Understand → Recommend → Itinerary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PROPOSED SOLUTION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58952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901952"/>
            <a:ext cx="137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95144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368296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NLP
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1901952"/>
            <a:ext cx="137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4487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977639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5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1901952"/>
            <a:ext cx="137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2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586984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Entity +
Preference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901952"/>
            <a:ext cx="137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3176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196328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1901952"/>
            <a:ext cx="137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805672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Itinerary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1901952"/>
            <a:ext cx="137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41864" y="1627632"/>
            <a:ext cx="1536192" cy="960120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0415016" y="1737360"/>
            <a:ext cx="3200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A6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1592" y="1993392"/>
            <a:ext cx="1316736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B43"/>
                </a:solidFill>
                <a:latin typeface="Aptos"/>
              </a:rPr>
              <a:t>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880360"/>
            <a:ext cx="66294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960120" y="306324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SYSTEM ARCHITECTURE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3456432"/>
            <a:ext cx="4526280" cy="24688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1920240" y="3465575"/>
            <a:ext cx="4343400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B43"/>
                </a:solidFill>
                <a:latin typeface="Aptos"/>
              </a:rPr>
              <a:t>CHATBOT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694176"/>
            <a:ext cx="27432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3785615"/>
            <a:ext cx="4526280" cy="24688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1920240" y="3794759"/>
            <a:ext cx="4343400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B43"/>
                </a:solidFill>
                <a:latin typeface="Aptos"/>
              </a:rPr>
              <a:t>NLP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023359"/>
            <a:ext cx="27432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114800"/>
            <a:ext cx="4526280" cy="24688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1920240" y="4123944"/>
            <a:ext cx="4343400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B43"/>
                </a:solidFill>
                <a:latin typeface="Aptos"/>
              </a:rPr>
              <a:t>INTENT + ENTITY + PREFERENCE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352544"/>
            <a:ext cx="27432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4443983"/>
            <a:ext cx="4526280" cy="24688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1920240" y="4453127"/>
            <a:ext cx="4343400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B43"/>
                </a:solidFill>
                <a:latin typeface="Aptos"/>
              </a:rPr>
              <a:t>TRAVEL KNOWLEDGE BASE / RECOMMENDER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681727"/>
            <a:ext cx="27432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73168"/>
            <a:ext cx="4526280" cy="24688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1920240" y="4782312"/>
            <a:ext cx="4343400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B43"/>
                </a:solidFill>
                <a:latin typeface="Aptos"/>
              </a:rPr>
              <a:t>ITINERARY GENERATOR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2880360"/>
            <a:ext cx="374903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Rectangle 47"/>
          <p:cNvSpPr/>
          <p:nvPr/>
        </p:nvSpPr>
        <p:spPr>
          <a:xfrm>
            <a:off x="7635240" y="2880360"/>
            <a:ext cx="64008" cy="2331720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7836408" y="3026664"/>
            <a:ext cx="3383279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7E26"/>
                </a:solidFill>
                <a:latin typeface="Aptos"/>
              </a:rPr>
              <a:t>KEY BENEFITS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36408" y="3410712"/>
            <a:ext cx="3383279" cy="1709927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100"/>
            </a:pPr>
            <a:r>
              <a:t>Personalized travel advice in seconds</a:t>
            </a:r>
          </a:p>
          <a:p>
            <a:pPr>
              <a:spcAft>
                <a:spcPts val="400"/>
              </a:spcAft>
              <a:defRPr sz="1100"/>
            </a:pPr>
            <a:r>
              <a:t>Voice-enabled interaction (Speaks answers aloud)</a:t>
            </a:r>
          </a:p>
          <a:p>
            <a:pPr>
              <a:spcAft>
                <a:spcPts val="400"/>
              </a:spcAft>
              <a:defRPr sz="1100"/>
            </a:pPr>
            <a:r>
              <a:t>High-resolution photo cards &amp; local food guides</a:t>
            </a:r>
          </a:p>
          <a:p>
            <a:pPr>
              <a:spcAft>
                <a:spcPts val="400"/>
              </a:spcAft>
              <a:defRPr sz="1100"/>
            </a:pPr>
            <a:r>
              <a:t>Persistent chat history saved in sidebar</a:t>
            </a:r>
          </a:p>
          <a:p>
            <a:pPr>
              <a:spcAft>
                <a:spcPts val="400"/>
              </a:spcAft>
              <a:defRPr sz="1100"/>
            </a:pPr>
            <a:r>
              <a:t>Google Gemini AI + Smart fallback engine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NLP, INTENT &amp; ENTITY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10698480" cy="621792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05840" y="1719072"/>
            <a:ext cx="10241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Example query: “Plan a 4-day trip to Bengaluru under ₹12,000.”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Oval 6"/>
          <p:cNvSpPr/>
          <p:nvPr/>
        </p:nvSpPr>
        <p:spPr>
          <a:xfrm>
            <a:off x="896112" y="2578608"/>
            <a:ext cx="457200" cy="457200"/>
          </a:xfrm>
          <a:prstGeom prst="ellipse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2606039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542032"/>
            <a:ext cx="157276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EA6"/>
                </a:solidFill>
                <a:latin typeface="Aptos"/>
              </a:rPr>
              <a:t>TOKENIZATION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71800"/>
            <a:ext cx="2084831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B43"/>
                </a:solidFill>
                <a:latin typeface="Aptos"/>
              </a:rPr>
              <a:t>plan | 4-day | trip | Bengaluru | ₹12,000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42316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Oval 11"/>
          <p:cNvSpPr/>
          <p:nvPr/>
        </p:nvSpPr>
        <p:spPr>
          <a:xfrm>
            <a:off x="3593592" y="2578608"/>
            <a:ext cx="457200" cy="457200"/>
          </a:xfrm>
          <a:prstGeom prst="ellipse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593592" y="2606039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542032"/>
            <a:ext cx="157276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EA6"/>
                </a:solidFill>
                <a:latin typeface="Aptos"/>
              </a:rPr>
              <a:t>LEMMATIZATION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971800"/>
            <a:ext cx="2084831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r>
              <a:t>planning → plan</a:t>
            </a:r>
          </a:p>
          <a:p>
            <a:r>
              <a:t>beaches → beach</a:t>
            </a:r>
          </a:p>
          <a:p>
            <a:r>
              <a:t>visiting → visit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2316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Oval 16"/>
          <p:cNvSpPr/>
          <p:nvPr/>
        </p:nvSpPr>
        <p:spPr>
          <a:xfrm>
            <a:off x="6291072" y="2578608"/>
            <a:ext cx="457200" cy="457200"/>
          </a:xfrm>
          <a:prstGeom prst="ellipse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291072" y="2606039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2542032"/>
            <a:ext cx="157276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EA6"/>
                </a:solidFill>
                <a:latin typeface="Aptos"/>
              </a:rPr>
              <a:t>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971800"/>
            <a:ext cx="2084831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r>
              <a:t>TRIP_PLANNING</a:t>
            </a:r>
          </a:p>
          <a:p>
            <a:r>
              <a:t>DESTINATION_INQUIRY</a:t>
            </a:r>
          </a:p>
          <a:p>
            <a:r>
              <a:t>Confidence: 96%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423160"/>
            <a:ext cx="2423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Oval 21"/>
          <p:cNvSpPr/>
          <p:nvPr/>
        </p:nvSpPr>
        <p:spPr>
          <a:xfrm>
            <a:off x="8988552" y="2578608"/>
            <a:ext cx="457200" cy="457200"/>
          </a:xfrm>
          <a:prstGeom prst="ellipse">
            <a:avLst/>
          </a:prstGeom>
          <a:solidFill>
            <a:srgbClr val="FFF3E7"/>
          </a:solidFill>
          <a:ln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988552" y="2606039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542032"/>
            <a:ext cx="157276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EA6"/>
                </a:solidFill>
                <a:latin typeface="Aptos"/>
              </a:rPr>
              <a:t>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2971800"/>
            <a:ext cx="2084831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B43"/>
                </a:solidFill>
                <a:latin typeface="Aptos"/>
              </a:rPr>
              <a:t>Destination • Duration
Budget • Travel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605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ectangle 26"/>
          <p:cNvSpPr/>
          <p:nvPr/>
        </p:nvSpPr>
        <p:spPr>
          <a:xfrm>
            <a:off x="777240" y="4160520"/>
            <a:ext cx="64008" cy="1600200"/>
          </a:xfrm>
          <a:prstGeom prst="rect">
            <a:avLst/>
          </a:prstGeom>
          <a:solidFill>
            <a:srgbClr val="1F4EA6"/>
          </a:solidFill>
          <a:ln w="10160">
            <a:solidFill>
              <a:srgbClr val="1F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78408" y="4306824"/>
            <a:ext cx="4709159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EA6"/>
                </a:solidFill>
                <a:latin typeface="Aptos"/>
              </a:rPr>
              <a:t>TRAVEL INTENTS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4690872"/>
            <a:ext cx="4709159" cy="978407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100"/>
            </a:pPr>
            <a:r>
              <a:t>Friendly greetings ('hlo', 'hi')</a:t>
            </a:r>
          </a:p>
          <a:p>
            <a:pPr>
              <a:spcAft>
                <a:spcPts val="400"/>
              </a:spcAft>
              <a:defRPr sz="1100"/>
            </a:pPr>
            <a:r>
              <a:t>Destination inquiry ('Tell me about Hyderabad')</a:t>
            </a:r>
          </a:p>
          <a:p>
            <a:pPr>
              <a:spcAft>
                <a:spcPts val="400"/>
              </a:spcAft>
              <a:defRPr sz="1100"/>
            </a:pPr>
            <a:r>
              <a:t>Category exploration ('i need more hill stations')</a:t>
            </a:r>
          </a:p>
          <a:p>
            <a:pPr>
              <a:spcAft>
                <a:spcPts val="400"/>
              </a:spcAft>
              <a:defRPr sz="1100"/>
            </a:pPr>
            <a:r>
              <a:t>Trip planning ('Plan 3 days under ₹10,000')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416052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6080760" y="4160520"/>
            <a:ext cx="64008" cy="1600200"/>
          </a:xfrm>
          <a:prstGeom prst="rect">
            <a:avLst/>
          </a:prstGeom>
          <a:solidFill>
            <a:srgbClr val="008282"/>
          </a:solidFill>
          <a:ln w="10160">
            <a:solidFill>
              <a:srgbClr val="00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281928" y="4306824"/>
            <a:ext cx="5029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8282"/>
                </a:solidFill>
                <a:latin typeface="Aptos"/>
              </a:rPr>
              <a:t>TRAVEL ENTITIES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690872"/>
            <a:ext cx="5029200" cy="978407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100"/>
            </a:pPr>
            <a:r>
              <a:t>Destination: City or state name</a:t>
            </a:r>
          </a:p>
          <a:p>
            <a:pPr>
              <a:spcAft>
                <a:spcPts val="400"/>
              </a:spcAft>
              <a:defRPr sz="1100"/>
            </a:pPr>
            <a:r>
              <a:t>Duration: Number of days (e.g. 3-day)</a:t>
            </a:r>
          </a:p>
          <a:p>
            <a:pPr>
              <a:spcAft>
                <a:spcPts val="400"/>
              </a:spcAft>
              <a:defRPr sz="1100"/>
            </a:pPr>
            <a:r>
              <a:t>Budget: Currency constraints in ₹</a:t>
            </a:r>
          </a:p>
          <a:p>
            <a:pPr>
              <a:spcAft>
                <a:spcPts val="400"/>
              </a:spcAft>
              <a:defRPr sz="1100"/>
            </a:pPr>
            <a:r>
              <a:t>Interests: Heritage, hill station, food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TRAVEL RECOMMENDATION &amp; ITINERARY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41248" y="1746504"/>
            <a:ext cx="2743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700784"/>
            <a:ext cx="16916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B43"/>
                </a:solidFill>
                <a:latin typeface="Aptos"/>
              </a:rPr>
              <a:t>User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1755648"/>
            <a:ext cx="228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55448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30168" y="1746504"/>
            <a:ext cx="2743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1700784"/>
            <a:ext cx="16916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B43"/>
                </a:solidFill>
                <a:latin typeface="Aptos"/>
              </a:rPr>
              <a:t>Preference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1755648"/>
            <a:ext cx="228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5448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19088" y="1746504"/>
            <a:ext cx="2743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1" y="1700784"/>
            <a:ext cx="16916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B43"/>
                </a:solidFill>
                <a:latin typeface="Aptos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755648"/>
            <a:ext cx="228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7E2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5448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208007" y="1746504"/>
            <a:ext cx="2743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1700784"/>
            <a:ext cx="16916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B43"/>
                </a:solidFill>
                <a:latin typeface="Aptos"/>
              </a:rPr>
              <a:t>Itinerary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6675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60120" y="2761488"/>
            <a:ext cx="6217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SAMPLE: 3-DAY HYDERABAD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246120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0160"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051560" y="3310127"/>
            <a:ext cx="9601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DAY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273551"/>
            <a:ext cx="47548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Charminar • Laad Bazaar • Irani Chai &amp; Biryani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867911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0160"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51560" y="3931920"/>
            <a:ext cx="9601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DAY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895344"/>
            <a:ext cx="47548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Golconda Fort • Qutb Shahi Tombs • Nizami dinner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489704"/>
            <a:ext cx="1051560" cy="393192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0160"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1051560" y="4553712"/>
            <a:ext cx="9601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DAY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517136"/>
            <a:ext cx="47548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Salar Jung Museum • Hussain Sagar Lake • Buddha Statue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256032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7726679" y="2560320"/>
            <a:ext cx="64008" cy="2743200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927848" y="2706624"/>
            <a:ext cx="3383279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7E26"/>
                </a:solidFill>
                <a:latin typeface="Aptos"/>
              </a:rPr>
              <a:t>RECOMMENDATION FACTORS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3090672"/>
            <a:ext cx="3383279" cy="2121408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50">
                <a:solidFill>
                  <a:srgbClr val="1E2B43"/>
                </a:solidFill>
                <a:latin typeface="Aptos"/>
              </a:defRPr>
            </a:pPr>
            <a:r>
              <a:t>Budget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50">
                <a:solidFill>
                  <a:srgbClr val="1E2B43"/>
                </a:solidFill>
                <a:latin typeface="Aptos"/>
              </a:defRPr>
            </a:pPr>
            <a:r>
              <a:t>Duration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50">
                <a:solidFill>
                  <a:srgbClr val="1E2B43"/>
                </a:solidFill>
                <a:latin typeface="Aptos"/>
              </a:defRPr>
            </a:pPr>
            <a:r>
              <a:t>Interests &amp; activities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50">
                <a:solidFill>
                  <a:srgbClr val="1E2B43"/>
                </a:solidFill>
                <a:latin typeface="Aptos"/>
              </a:defRPr>
            </a:pPr>
            <a:r>
              <a:t>Location / season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50">
                <a:solidFill>
                  <a:srgbClr val="1E2B43"/>
                </a:solidFill>
                <a:latin typeface="Aptos"/>
              </a:defRPr>
            </a:pPr>
            <a:r>
              <a:t>Travel style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CONTEXT MANAGEMENT &amp; CONVERSATIONAL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5321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5074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A6"/>
                </a:solidFill>
                <a:latin typeface="Aptos"/>
              </a:rPr>
              <a:t>MULTI-TURN CONVERSATION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4480560" cy="393192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69848" y="222199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A6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I need more hill stations.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660904"/>
            <a:ext cx="3886200" cy="393192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029968" y="2734056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8282"/>
                </a:solidFill>
                <a:latin typeface="Aptos"/>
              </a:rPr>
              <a:t>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06624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Here are top 6 hill stations: Manali, Ooty, Munnar, Shimla, Darjeeling, Coorg.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172968"/>
            <a:ext cx="4480560" cy="393192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69848" y="3246120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A6"/>
                </a:solidFill>
                <a:latin typeface="Aptos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1868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Tell me about Manali.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685032"/>
            <a:ext cx="3886200" cy="393192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029968" y="3758184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8282"/>
                </a:solidFill>
                <a:latin typeface="Aptos"/>
              </a:rPr>
              <a:t>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730752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Manali features Solang Valley, Rohtang Pass, snowy peaks and Siddu delicacies!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197096"/>
            <a:ext cx="4480560" cy="393192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69848" y="4270248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A6"/>
                </a:solidFill>
                <a:latin typeface="Aptos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42816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Plan a 3-day trip under ₹10,000.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709160"/>
            <a:ext cx="3886200" cy="393192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029968" y="478231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8282"/>
                </a:solidFill>
                <a:latin typeface="Aptos"/>
              </a:rPr>
              <a:t>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754880"/>
            <a:ext cx="3063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Created your 3-day Manali budget itinerary with daily morning, afternoon &amp; evening plans!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508760"/>
            <a:ext cx="49377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812280" y="1737360"/>
            <a:ext cx="43891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A6"/>
                </a:solidFill>
                <a:latin typeface="Aptos"/>
              </a:rPr>
              <a:t>CONTEXT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212848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452360" y="2295144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B43"/>
                </a:solidFill>
                <a:latin typeface="Aptos"/>
              </a:rPr>
              <a:t>NLP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2596896"/>
            <a:ext cx="1828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779776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452360" y="2862072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B43"/>
                </a:solidFill>
                <a:latin typeface="Aptos"/>
              </a:rPr>
              <a:t>Context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3163824"/>
            <a:ext cx="1828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346704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7452360" y="3429000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B43"/>
                </a:solidFill>
                <a:latin typeface="Aptos"/>
              </a:rPr>
              <a:t>Travel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3730752"/>
            <a:ext cx="1828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3913631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7452360" y="3995927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B43"/>
                </a:solidFill>
                <a:latin typeface="Aptos"/>
              </a:rPr>
              <a:t>Recommendation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4297679"/>
            <a:ext cx="18288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B7E26"/>
                </a:solidFill>
                <a:latin typeface="Aptos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480560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7452360" y="4562856"/>
            <a:ext cx="310896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B43"/>
                </a:solidFill>
                <a:latin typeface="Aptos"/>
              </a:rPr>
              <a:t>Personalized Response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5102352"/>
            <a:ext cx="3383280" cy="256032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0160">
            <a:solidFill>
              <a:srgbClr val="FFF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7452360" y="5129784"/>
            <a:ext cx="31089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B7E26"/>
                </a:solidFill>
                <a:latin typeface="Aptos"/>
              </a:rPr>
              <a:t>CONTEXT RETAINED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TRAVEL KNOWLEDGE BASE &amp; CHATBOT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7947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3375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A6"/>
                </a:solidFill>
                <a:latin typeface="Aptos"/>
              </a:rPr>
              <a:t>TRAVEL KNOWLEDGE BASE</a:t>
            </a:r>
          </a:p>
        </p:txBody>
      </p:sp>
      <p:sp>
        <p:nvSpPr>
          <p:cNvPr id="8" name="Oval 7"/>
          <p:cNvSpPr/>
          <p:nvPr/>
        </p:nvSpPr>
        <p:spPr>
          <a:xfrm>
            <a:off x="1024128" y="2286000"/>
            <a:ext cx="457200" cy="457200"/>
          </a:xfrm>
          <a:prstGeom prst="ellipse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322576"/>
            <a:ext cx="2423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Curated Indian &amp; global destinations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2788920"/>
            <a:ext cx="457200" cy="457200"/>
          </a:xfrm>
          <a:prstGeom prst="ellipse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24128" y="2816351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825496"/>
            <a:ext cx="2423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Famous sights around each city with timings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291840"/>
            <a:ext cx="457200" cy="457200"/>
          </a:xfrm>
          <a:prstGeom prst="ellipse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24128" y="3319272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328416"/>
            <a:ext cx="2423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Signature local food dishes &amp; famous spots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3794760"/>
            <a:ext cx="457200" cy="457200"/>
          </a:xfrm>
          <a:prstGeom prst="ellipse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24128" y="3822192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31336"/>
            <a:ext cx="2423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Budget calculation (daily and 3-day estimates)</a:t>
            </a:r>
          </a:p>
        </p:txBody>
      </p:sp>
      <p:sp>
        <p:nvSpPr>
          <p:cNvPr id="20" name="Oval 19"/>
          <p:cNvSpPr/>
          <p:nvPr/>
        </p:nvSpPr>
        <p:spPr>
          <a:xfrm>
            <a:off x="1024128" y="4297680"/>
            <a:ext cx="457200" cy="457200"/>
          </a:xfrm>
          <a:prstGeom prst="ellipse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024128" y="4325112"/>
            <a:ext cx="45720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A6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334256"/>
            <a:ext cx="2423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Dynamic synthesizer for unlisted global places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554480"/>
            <a:ext cx="66751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074920" y="1783080"/>
            <a:ext cx="6126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A6"/>
                </a:solidFill>
                <a:latin typeface="Aptos"/>
              </a:rPr>
              <a:t>SAMPLE CHATBOT WORKFLOWS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2240280"/>
            <a:ext cx="6126480" cy="73152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257800" y="2350008"/>
            <a:ext cx="1097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A6"/>
                </a:solidFill>
                <a:latin typeface="Aptos"/>
              </a:rPr>
              <a:t>DESTINATION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13432"/>
            <a:ext cx="3383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B43"/>
                </a:solidFill>
                <a:latin typeface="Aptos"/>
              </a:rPr>
              <a:t>“Suggest a hill station for a weekend trip.”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24328"/>
            <a:ext cx="448056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8282"/>
                </a:solidFill>
                <a:latin typeface="Aptos"/>
              </a:rPr>
              <a:t>→ Personalized suggestions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172968"/>
            <a:ext cx="6126480" cy="73152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257800" y="3282696"/>
            <a:ext cx="1097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A6"/>
                </a:solidFill>
                <a:latin typeface="Aptos"/>
              </a:rPr>
              <a:t>ITINERARY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46120"/>
            <a:ext cx="3383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B43"/>
                </a:solidFill>
                <a:latin typeface="Aptos"/>
              </a:rPr>
              <a:t>“Create a 2-day Jaipur plan.”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57016"/>
            <a:ext cx="448056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8282"/>
                </a:solidFill>
                <a:latin typeface="Aptos"/>
              </a:rPr>
              <a:t>→ Day-wise travel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4105656"/>
            <a:ext cx="6126480" cy="731520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257800" y="4215384"/>
            <a:ext cx="1097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A6"/>
                </a:solidFill>
                <a:latin typeface="Aptos"/>
              </a:rPr>
              <a:t>BUDGET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78808"/>
            <a:ext cx="3383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B43"/>
                </a:solidFill>
                <a:latin typeface="Aptos"/>
              </a:rPr>
              <a:t>“Can I plan Goa under ₹10,000?”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89704"/>
            <a:ext cx="448056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8282"/>
                </a:solidFill>
                <a:latin typeface="Aptos"/>
              </a:rPr>
              <a:t>→ Budget-aware options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CHATBOT EXECUTION &amp; DATA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4465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989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A6"/>
                </a:solidFill>
                <a:latin typeface="Aptos"/>
              </a:rPr>
              <a:t>SAMPLE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212848"/>
            <a:ext cx="5074920" cy="512064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78992" y="23042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A6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286000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E2B43"/>
                </a:solidFill>
                <a:latin typeface="Aptos"/>
              </a:rPr>
              <a:t>I want to visit Hyderabad for 3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898648"/>
            <a:ext cx="4069080" cy="512064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130552" y="2990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8282"/>
                </a:solidFill>
                <a:latin typeface="Aptos"/>
              </a:rPr>
              <a:t>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971800"/>
            <a:ext cx="32004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E2B43"/>
                </a:solidFill>
                <a:latin typeface="Aptos"/>
              </a:rPr>
              <a:t>What is your approximate budget?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584448"/>
            <a:ext cx="5074920" cy="512064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78992" y="3675887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F4EA6"/>
                </a:solidFill>
                <a:latin typeface="Aptos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3657600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E2B43"/>
                </a:solidFill>
                <a:latin typeface="Aptos"/>
              </a:rPr>
              <a:t>₹10,000. I enjoy history and local food.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270248"/>
            <a:ext cx="4069080" cy="512064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130552" y="43616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8282"/>
                </a:solidFill>
                <a:latin typeface="Aptos"/>
              </a:rPr>
              <a:t>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343400"/>
            <a:ext cx="32004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E2B43"/>
                </a:solidFill>
                <a:latin typeface="Aptos"/>
              </a:rPr>
              <a:t>I’ll create a 3-day plan focused on history and local cuisine.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54480"/>
            <a:ext cx="402336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726679" y="1783080"/>
            <a:ext cx="34747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A6"/>
                </a:solidFill>
                <a:latin typeface="Aptos"/>
              </a:rPr>
              <a:t>DATA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240280"/>
            <a:ext cx="9601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64748B"/>
                </a:solidFill>
                <a:latin typeface="Aptos"/>
              </a:rPr>
              <a:t>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40280"/>
            <a:ext cx="2487168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Curated travel JSON dataset + Unsplash visual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816352"/>
            <a:ext cx="9601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64748B"/>
                </a:solidFill>
                <a:latin typeface="Aptos"/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16352"/>
            <a:ext cx="2487168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B43"/>
                </a:solidFill>
                <a:latin typeface="Aptos"/>
              </a:rPr>
              <a:t>Structured + textual travel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392424"/>
            <a:ext cx="9601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64748B"/>
                </a:solidFill>
                <a:latin typeface="Aptos"/>
              </a:rPr>
              <a:t>Attributes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392424"/>
            <a:ext cx="2487168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B43"/>
                </a:solidFill>
                <a:latin typeface="Aptos"/>
              </a:rPr>
              <a:t>Destination, budget, duration, activities, FAQs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968496"/>
            <a:ext cx="9601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64748B"/>
                </a:solidFill>
                <a:latin typeface="Aptos"/>
              </a:rPr>
              <a:t>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968496"/>
            <a:ext cx="2487168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B43"/>
                </a:solidFill>
                <a:latin typeface="Aptos"/>
              </a:rPr>
              <a:t>CSV / JSON / knowledge-base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544568"/>
            <a:ext cx="9601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64748B"/>
                </a:solidFill>
                <a:latin typeface="Aptos"/>
              </a:rPr>
              <a:t>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544568"/>
            <a:ext cx="2487168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10+ Curated major hubs + Dynamic worldwide synthesis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612648" y="1207008"/>
            <a:ext cx="10972800" cy="32004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502920"/>
            <a:ext cx="104698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4EA6"/>
                </a:solidFill>
                <a:latin typeface="Aptos"/>
              </a:rPr>
              <a:t>EXPECTED OUTCOME, FUTURE SCOPE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965960"/>
          </a:xfrm>
          <a:prstGeom prst="rect">
            <a:avLst/>
          </a:prstGeom>
          <a:solidFill>
            <a:srgbClr val="1F4EA6"/>
          </a:solidFill>
          <a:ln w="10160">
            <a:solidFill>
              <a:srgbClr val="1F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8920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EA6"/>
                </a:solidFill>
                <a:latin typeface="Aptos"/>
              </a:rPr>
              <a:t>EXPECTED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4892040" cy="1344167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000"/>
            </a:pPr>
            <a:r>
              <a:t>Natural-language interaction with NLTK</a:t>
            </a:r>
          </a:p>
          <a:p>
            <a:pPr>
              <a:spcAft>
                <a:spcPts val="400"/>
              </a:spcAft>
              <a:defRPr sz="1000"/>
            </a:pPr>
            <a:r>
              <a:t>Google Gemini AI engine (non-canned responses)</a:t>
            </a:r>
          </a:p>
          <a:p>
            <a:pPr>
              <a:spcAft>
                <a:spcPts val="400"/>
              </a:spcAft>
              <a:defRPr sz="1000"/>
            </a:pPr>
            <a:r>
              <a:t>Visual cards: high-res photos &amp; famous food</a:t>
            </a:r>
          </a:p>
          <a:p>
            <a:pPr>
              <a:spcAft>
                <a:spcPts val="400"/>
              </a:spcAft>
              <a:defRPr sz="1000"/>
            </a:pPr>
            <a:r>
              <a:t>Day-wise itinerary generation with cost breakdown</a:t>
            </a:r>
          </a:p>
          <a:p>
            <a:pPr>
              <a:spcAft>
                <a:spcPts val="400"/>
              </a:spcAft>
              <a:defRPr sz="1000"/>
            </a:pPr>
            <a:r>
              <a:t>AI Voice readout (speaks answers aloud)</a:t>
            </a:r>
          </a:p>
          <a:p>
            <a:pPr>
              <a:spcAft>
                <a:spcPts val="400"/>
              </a:spcAft>
              <a:defRPr sz="1000"/>
            </a:pPr>
            <a:r>
              <a:t>ChatGPT UI with persistent sidebar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64008" cy="1965960"/>
          </a:xfrm>
          <a:prstGeom prst="rect">
            <a:avLst/>
          </a:prstGeom>
          <a:solidFill>
            <a:srgbClr val="EB7E26"/>
          </a:solidFill>
          <a:ln w="10160">
            <a:solidFill>
              <a:srgbClr val="EB7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373368" y="1655063"/>
            <a:ext cx="4937759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B7E26"/>
                </a:solidFill>
                <a:latin typeface="Aptos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39112"/>
            <a:ext cx="4937759" cy="1344167"/>
          </a:xfrm>
          <a:prstGeom prst="rect">
            <a:avLst/>
          </a:prstGeom>
          <a:noFill/>
        </p:spPr>
        <p:txBody>
          <a:bodyPr wrap="square" lIns="18288" rIns="18288" tIns="18288">
            <a:noAutofit/>
          </a:bodyPr>
          <a:lstStyle/>
          <a:p>
            <a:pPr>
              <a:spcAft>
                <a:spcPts val="400"/>
              </a:spcAft>
              <a:defRPr sz="1000"/>
            </a:pPr>
            <a:r>
              <a:t>Live booking APIs (IRCTC, Skyscanner, MakeMyTrip)</a:t>
            </a:r>
          </a:p>
          <a:p>
            <a:pPr>
              <a:spcAft>
                <a:spcPts val="400"/>
              </a:spcAft>
              <a:defRPr sz="1000"/>
            </a:pPr>
            <a:r>
              <a:t>Multilingual Indian language support (Hindi, Telugu)</a:t>
            </a:r>
          </a:p>
          <a:p>
            <a:pPr>
              <a:spcAft>
                <a:spcPts val="400"/>
              </a:spcAft>
              <a:defRPr sz="1000"/>
            </a:pPr>
            <a:r>
              <a:t>Interactive Google Maps route visualization</a:t>
            </a:r>
          </a:p>
          <a:p>
            <a:pPr>
              <a:spcAft>
                <a:spcPts val="400"/>
              </a:spcAft>
              <a:defRPr sz="1000"/>
            </a:pPr>
            <a:r>
              <a:t>Exportable PDF travel itineraries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10744200" cy="640080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 w="10160">
            <a:solidFill>
              <a:srgbClr val="E6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378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08282"/>
                </a:solidFill>
                <a:latin typeface="Aptos"/>
              </a:rPr>
              <a:t>USER → NLP → INTENT / ENTITIES → PREFERENCES → RECOMMENDATION → ITINERARY →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4617720"/>
            <a:ext cx="9555480" cy="804672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600200" y="4754880"/>
            <a:ext cx="141732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4EA6"/>
                </a:solidFill>
                <a:latin typeface="Aptos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700016"/>
            <a:ext cx="75438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E2B43"/>
                </a:solidFill>
                <a:latin typeface="Aptos"/>
              </a:rPr>
              <a:t>A conversational AI assistant can make travel planning faster, personalized and easier to access through natural-language interaction.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04688"/>
            <a:ext cx="8595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r>
              <a:t>Questions &amp; Discussion  •  N.Bhavya Sri  •  T.Lavanya  •  S.Srihasini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6254496"/>
            <a:ext cx="10972800" cy="18288"/>
          </a:xfrm>
          <a:prstGeom prst="rect">
            <a:avLst/>
          </a:prstGeom>
          <a:solidFill>
            <a:srgbClr val="D3DCEA"/>
          </a:solidFill>
          <a:ln w="1016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318504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B.Tech CSE • Minor Project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291072"/>
            <a:ext cx="6400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588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371600" cy="22860"/>
          </a:xfrm>
          <a:prstGeom prst="rect">
            <a:avLst/>
          </a:prstGeom>
          <a:solidFill>
            <a:srgbClr val="23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21240" y="1417320"/>
            <a:ext cx="1417320" cy="22860"/>
          </a:xfrm>
          <a:prstGeom prst="rect">
            <a:avLst/>
          </a:prstGeom>
          <a:solidFill>
            <a:srgbClr val="23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74920"/>
            <a:ext cx="1645920" cy="22860"/>
          </a:xfrm>
          <a:prstGeom prst="rect">
            <a:avLst/>
          </a:prstGeom>
          <a:solidFill>
            <a:srgbClr val="23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46920" y="5349240"/>
            <a:ext cx="1463040" cy="22860"/>
          </a:xfrm>
          <a:prstGeom prst="rect">
            <a:avLst/>
          </a:prstGeom>
          <a:solidFill>
            <a:srgbClr val="23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02412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35640" y="134416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500176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52760" y="527608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66360" y="822960"/>
            <a:ext cx="1097280" cy="1097280"/>
          </a:xfrm>
          <a:prstGeom prst="ellipse">
            <a:avLst/>
          </a:prstGeom>
          <a:solidFill>
            <a:srgbClr val="102A4C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5740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Aptos Display"/>
              </a:rPr>
              <a:t>AI TRAVEL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914400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40"/>
            <a:ext cx="7315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D6E2F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133087"/>
            <a:ext cx="1737360" cy="320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48840" y="4434840"/>
            <a:ext cx="6675120" cy="822960"/>
          </a:xfrm>
          <a:prstGeom prst="roundRect">
            <a:avLst/>
          </a:prstGeom>
          <a:solidFill>
            <a:srgbClr val="0E223D"/>
          </a:solidFill>
          <a:ln w="15240">
            <a:solidFill>
              <a:srgbClr val="23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N.Bhavya Sri   •   T.Lavanya   •   S.Srihasini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5989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896B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33329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Administrator</dc:creator>
  <dc:description/>
  <dc:language>en-US</dc:language>
  <cp:lastModifiedBy>Sudha Rani</cp:lastModifiedBy>
  <dcterms:modified xsi:type="dcterms:W3CDTF">2026-08-24T16:29:30Z</dcterms:modified>
  <cp:revision>448</cp:revision>
  <dc:subject/>
  <dc:title>UNIT-I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r8>0</vt:r8>
  </property>
  <property fmtid="{D5CDD505-2E9C-101B-9397-08002B2CF9AE}" pid="6" name="Notes">
    <vt:r8>21</vt:r8>
  </property>
  <property fmtid="{D5CDD505-2E9C-101B-9397-08002B2CF9AE}" pid="7" name="PresentationFormat">
    <vt:lpwstr>On-screen Show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r8>118</vt:r8>
  </property>
</Properties>
</file>